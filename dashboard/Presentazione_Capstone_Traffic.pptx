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9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5864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1143000" y="502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· CAPSTONE PROJECT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78184" y="1080022"/>
            <a:ext cx="8778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Previsioni per gli investimenti</a:t>
            </a:r>
            <a:endParaRPr lang="en-US" sz="4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sulla sicurezza stradale in Italia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20684" y="2442478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predittiva e classificazione del rischio dei comuni italiani, a supporto delle decisioni di investimento in sicurezza stradale.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002536" y="3639634"/>
            <a:ext cx="2765282" cy="677558"/>
          </a:xfrm>
          <a:prstGeom prst="roundRect">
            <a:avLst>
              <a:gd name="adj" fmla="val 19048"/>
            </a:avLst>
          </a:prstGeom>
          <a:solidFill>
            <a:srgbClr val="1C2836"/>
          </a:solidFill>
          <a:ln w="9525">
            <a:solidFill>
              <a:srgbClr val="2E3E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93649" y="3639634"/>
            <a:ext cx="272001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ISTAT &amp; SITUAS API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683551" y="3576139"/>
            <a:ext cx="3709699" cy="987939"/>
          </a:xfrm>
          <a:prstGeom prst="roundRect">
            <a:avLst>
              <a:gd name="adj" fmla="val 19048"/>
            </a:avLst>
          </a:prstGeom>
          <a:solidFill>
            <a:srgbClr val="1C2836"/>
          </a:solidFill>
          <a:ln w="9525">
            <a:solidFill>
              <a:srgbClr val="2E3E4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29400" y="3489016"/>
            <a:ext cx="3861022" cy="10601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EDA · K-Means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1856259" y="5139636"/>
            <a:ext cx="3234037" cy="699968"/>
          </a:xfrm>
          <a:prstGeom prst="roundRect">
            <a:avLst>
              <a:gd name="adj" fmla="val 19048"/>
            </a:avLst>
          </a:prstGeom>
          <a:solidFill>
            <a:srgbClr val="1C2836"/>
          </a:solidFill>
          <a:ln w="9525">
            <a:solidFill>
              <a:srgbClr val="2E3E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47852" y="5123860"/>
            <a:ext cx="3142444" cy="7315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Regressione Lineare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7650050" y="5160175"/>
            <a:ext cx="1738649" cy="592945"/>
          </a:xfrm>
          <a:prstGeom prst="roundRect">
            <a:avLst>
              <a:gd name="adj" fmla="val 19048"/>
            </a:avLst>
          </a:prstGeom>
          <a:solidFill>
            <a:srgbClr val="1C2836"/>
          </a:solidFill>
          <a:ln w="9525">
            <a:solidFill>
              <a:srgbClr val="2E3E4E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6" name="Text 13"/>
          <p:cNvSpPr/>
          <p:nvPr/>
        </p:nvSpPr>
        <p:spPr>
          <a:xfrm>
            <a:off x="7101706" y="5101837"/>
            <a:ext cx="2850608" cy="6761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Capstone — ISTAT Traffic Risk Analysis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Ingestion e Resilienza della Pipeline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Integrazione dell'API ISTAT (dati dinamici sui sinistri) con i registri demografici SITUAS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84248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6" name="Image 0" descr="icon_ing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214884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947672"/>
            <a:ext cx="3886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Formato CSV via Header HTTP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74320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Richiesta forzata in formato CSV tramite header HTTP Accept, per ottimizzare i tempi di parsing e calcolo rispetto all'XML nativo.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0" y="1984248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11" name="Image 1" descr="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2148840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1947672"/>
            <a:ext cx="3886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Caching locale condizionale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83680" y="274320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locale condizionale per azzerare il rischio di ban da rate limit dell'API e rendere la pipeline resiliente a esecuzioni ripetute.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3891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68680" y="4681728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16" name="Image 2" descr="icon_mer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4846320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645152"/>
            <a:ext cx="3886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Inner Join su codice REF_AREA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68680" y="54406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 matematica dei due dataset tramite il codice numerico univoco ministeriale REF_AREA, per collegare sinistri e anagrafica comuni.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43891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83680" y="4681728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21" name="Image 3" descr="icon_fil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484632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645152"/>
            <a:ext cx="3886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Automazione &amp; aggiornamento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6583680" y="54406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automatico e ripetibile, pensato per i nuovi rilasci periodici del dataset ISTAT, con pulizia e normalizzazione a valle.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Capstone — ISTAT Traffic Risk Analysis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e Rimozione del Bias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029200" cy="4892040"/>
          </a:xfrm>
          <a:prstGeom prst="roundRect">
            <a:avLst>
              <a:gd name="adj" fmla="val 1869"/>
            </a:avLst>
          </a:prstGeom>
          <a:solidFill>
            <a:srgbClr val="1C2836"/>
          </a:solidFill>
          <a:ln/>
        </p:spPr>
      </p:sp>
      <p:pic>
        <p:nvPicPr>
          <p:cNvPr id="4" name="Image 0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0876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5087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problema del dato assoluto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214884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7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numero assoluto di incidenti (OBS_VALUE) genera un bias sistematico a favore delle grandi metropoli, penalizzando l'analisi delle reali criticità infrastrutturali.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68680" y="3246120"/>
            <a:ext cx="4389120" cy="0"/>
          </a:xfrm>
          <a:prstGeom prst="line">
            <a:avLst/>
          </a:prstGeom>
          <a:noFill/>
          <a:ln w="12700">
            <a:solidFill>
              <a:srgbClr val="2E3E4E"/>
            </a:solidFill>
            <a:prstDash val="solid"/>
          </a:ln>
        </p:spPr>
      </p:sp>
      <p:pic>
        <p:nvPicPr>
          <p:cNvPr id="8" name="Image 1" descr="icon_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5204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35204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 di Business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416052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7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Individuare le reali criticità infrastrutturali anche nei centri minori, spesso invisibili se si guarda solo al totale sinistri.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68680" y="5257800"/>
            <a:ext cx="4389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“Normalizzare per rendere visibile ciò che il dato grezzo nasconde.”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943600" y="12344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nuove feature ingegnerizzate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943600" y="1737360"/>
            <a:ext cx="5669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3E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63640" y="2057400"/>
            <a:ext cx="640080" cy="640080"/>
          </a:xfrm>
          <a:prstGeom prst="ellipse">
            <a:avLst/>
          </a:prstGeom>
          <a:solidFill>
            <a:srgbClr val="FFF3DF"/>
          </a:solidFill>
          <a:ln/>
        </p:spPr>
      </p:sp>
      <p:pic>
        <p:nvPicPr>
          <p:cNvPr id="15" name="Image 2" descr="icon_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21992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086600" y="19659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Tasso Pro Capite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6263640" y="2450592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Incidenti normalizzati su base 1.000 abitanti, per confrontare comuni di dimensioni molto diverse su una base comune.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943600" y="3931920"/>
            <a:ext cx="5669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3E9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63640" y="4251960"/>
            <a:ext cx="640080" cy="640080"/>
          </a:xfrm>
          <a:prstGeom prst="ellipse">
            <a:avLst/>
          </a:prstGeom>
          <a:solidFill>
            <a:srgbClr val="DCF9F4"/>
          </a:solidFill>
          <a:ln/>
        </p:spPr>
      </p:sp>
      <p:pic>
        <p:nvPicPr>
          <p:cNvPr id="20" name="Image 3" descr="icon_loc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416552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086600" y="416052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Densità Spaziale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6263640" y="4645152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Incidenti calcolati per chilometro quadrato (Kmq), per far emergere le criticità concentrate su territori piccoli e densi.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Capstone — ISTAT Traffic Risk Analysis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Analytics: Machine Learning con K-Means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 non supervisionato addestrato per individuare cluster fisici di rischio tra i comuni italiani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03504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/>
        </p:spPr>
      </p:sp>
      <p:pic>
        <p:nvPicPr>
          <p:cNvPr id="5" name="Image 0" descr="unpacked/ppt/media/image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1783080"/>
            <a:ext cx="5669280" cy="42976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214616" y="1560275"/>
            <a:ext cx="4087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Standardizzazione delle feature tramite StandardScaler, per equilibrare i pesi geometrici tra tasso pro capite e densità.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7214616" y="2489550"/>
            <a:ext cx="4087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 K-Means addestrato su 3 cluster fisici di rischio (Basso, Medio, Alto), escludendo i comuni sotto i 500 abitanti.</a:t>
            </a:r>
            <a:endParaRPr lang="en-US" sz="1400" dirty="0"/>
          </a:p>
        </p:txBody>
      </p:sp>
      <p:sp>
        <p:nvSpPr>
          <p:cNvPr id="14" name="Text 8"/>
          <p:cNvSpPr/>
          <p:nvPr/>
        </p:nvSpPr>
        <p:spPr>
          <a:xfrm>
            <a:off x="7214616" y="3429000"/>
            <a:ext cx="4087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Mappatura logaritmica sull'asse Y per gestire la forte asimmetria dei centri urbani più popolosi.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6903720" y="434340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PIRAMIDE DEL RISCHIO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6903720" y="4709160"/>
            <a:ext cx="1447800" cy="1417320"/>
          </a:xfrm>
          <a:prstGeom prst="roundRect">
            <a:avLst>
              <a:gd name="adj" fmla="val 5161"/>
            </a:avLst>
          </a:prstGeom>
          <a:solidFill>
            <a:srgbClr val="1C2836"/>
          </a:solidFill>
          <a:ln w="15875">
            <a:solidFill>
              <a:srgbClr val="2ECC7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6903720" y="4828032"/>
            <a:ext cx="1447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4.897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6995160" y="5440680"/>
            <a:ext cx="126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 a Basso Rischio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8534400" y="4709160"/>
            <a:ext cx="1447800" cy="1417320"/>
          </a:xfrm>
          <a:prstGeom prst="roundRect">
            <a:avLst>
              <a:gd name="adj" fmla="val 5161"/>
            </a:avLst>
          </a:prstGeom>
          <a:solidFill>
            <a:srgbClr val="1C2836"/>
          </a:solidFill>
          <a:ln w="15875">
            <a:solidFill>
              <a:srgbClr val="F5A623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8534400" y="4828032"/>
            <a:ext cx="1447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1.940</a:t>
            </a:r>
            <a:endParaRPr lang="en-US" sz="2200" dirty="0"/>
          </a:p>
        </p:txBody>
      </p:sp>
      <p:sp>
        <p:nvSpPr>
          <p:cNvPr id="21" name="Text 15"/>
          <p:cNvSpPr/>
          <p:nvPr/>
        </p:nvSpPr>
        <p:spPr>
          <a:xfrm>
            <a:off x="8625840" y="5440680"/>
            <a:ext cx="126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 a Medio Rischio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10165080" y="4709160"/>
            <a:ext cx="1447800" cy="1417320"/>
          </a:xfrm>
          <a:prstGeom prst="roundRect">
            <a:avLst>
              <a:gd name="adj" fmla="val 5161"/>
            </a:avLst>
          </a:prstGeom>
          <a:solidFill>
            <a:srgbClr val="1C2836"/>
          </a:solidFill>
          <a:ln w="15875">
            <a:solidFill>
              <a:srgbClr val="E74C3C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10165080" y="4828032"/>
            <a:ext cx="1447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</a:t>
            </a:r>
            <a:endParaRPr lang="en-US" sz="2200" dirty="0"/>
          </a:p>
        </p:txBody>
      </p:sp>
      <p:sp>
        <p:nvSpPr>
          <p:cNvPr id="24" name="Text 18"/>
          <p:cNvSpPr/>
          <p:nvPr/>
        </p:nvSpPr>
        <p:spPr>
          <a:xfrm>
            <a:off x="10256520" y="5440680"/>
            <a:ext cx="126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 ad Alto Rischio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Capstone — ISTAT Traffic Risk Analysis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852160" cy="5852160"/>
          </a:xfrm>
          <a:prstGeom prst="ellipse">
            <a:avLst/>
          </a:prstGeom>
          <a:solidFill>
            <a:srgbClr val="1C2836">
              <a:alpha val="5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 Predittivo e Visione Strategica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Regressione lineare applicata sulla serie storica per isolare il trend nazionale degli incidenti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206240" cy="4434840"/>
          </a:xfrm>
          <a:prstGeom prst="roundRect">
            <a:avLst>
              <a:gd name="adj" fmla="val 2609"/>
            </a:avLst>
          </a:prstGeom>
          <a:solidFill>
            <a:srgbClr val="1C2836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STIMA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190.729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incidenti totali stimati a livello nazionale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206240"/>
            <a:ext cx="3566160" cy="0"/>
          </a:xfrm>
          <a:prstGeom prst="line">
            <a:avLst/>
          </a:prstGeom>
          <a:noFill/>
          <a:ln w="12700">
            <a:solidFill>
              <a:srgbClr val="2E3E4E"/>
            </a:solidFill>
            <a:prstDash val="solid"/>
          </a:ln>
        </p:spPr>
      </p:sp>
      <p:pic>
        <p:nvPicPr>
          <p:cNvPr id="10" name="Image 0" descr="icon_chart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43484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25880" y="441655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C7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nazionale in crescita rispetto agli anni precedenti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120640" y="1828800"/>
            <a:ext cx="6492240" cy="1783080"/>
          </a:xfrm>
          <a:prstGeom prst="roundRect">
            <a:avLst>
              <a:gd name="adj" fmla="val 5128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2103120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14" name="Image 1" descr="icon_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272" y="2267712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263640" y="2029968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Allocazione chirurgica del budget</a:t>
            </a:r>
            <a:endParaRPr lang="en-US" sz="1650" dirty="0"/>
          </a:p>
        </p:txBody>
      </p:sp>
      <p:sp>
        <p:nvSpPr>
          <p:cNvPr id="16" name="Text 12"/>
          <p:cNvSpPr/>
          <p:nvPr/>
        </p:nvSpPr>
        <p:spPr>
          <a:xfrm>
            <a:off x="5440680" y="2788920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esclusivo sui 152 comuni ad Alto Rischio individuati dal clustering, per massimizzare l'impatto degli investimenti.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120640" y="3840480"/>
            <a:ext cx="6492240" cy="1783080"/>
          </a:xfrm>
          <a:prstGeom prst="roundRect">
            <a:avLst>
              <a:gd name="adj" fmla="val 5128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40680" y="4114800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19" name="Image 2" descr="icon_briefc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272" y="4279392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4041648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Obiettivo di business centrato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5440680" y="4800600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Massimizzazione del ROI aziendale attraverso una prevenzione mirata, invece di interventi diffusi e poco efficienti.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120640" y="58978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dato grezzo alla decisione di investimento: una pipeline completa, dalla raccolta al ROI.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Capstone — ISTAT Traffic Risk Analysis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535</Words>
  <Application>Microsoft Office PowerPoint</Application>
  <PresentationFormat>Widescreen</PresentationFormat>
  <Paragraphs>67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Calogero Sutera</cp:lastModifiedBy>
  <cp:revision>2</cp:revision>
  <dcterms:created xsi:type="dcterms:W3CDTF">2026-07-30T16:55:23Z</dcterms:created>
  <dcterms:modified xsi:type="dcterms:W3CDTF">2026-07-31T10:13:25Z</dcterms:modified>
</cp:coreProperties>
</file>