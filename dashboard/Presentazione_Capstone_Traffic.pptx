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9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693FA-3F9A-9854-B276-84BB5D36E0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06B39C-A68B-234D-C247-40EE1B2D77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DCFE7-13A6-5E2B-3665-C219DD526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BC2DEB-949E-36A6-AE76-CFF40E716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16723-5B63-DC5C-29E7-FD31EAB07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0318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92951-29A7-BD85-C4FA-FFEE7684F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E3743-4482-E923-5FEF-B6B734D5A2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BDD636-14D1-F88D-8BCA-E1AB2FEA9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13D27-BE05-04CA-74E4-29A0342D8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4AFEE-8565-CB6E-A919-B6C8A2C80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7052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F338F-4132-54D0-EF57-49B7B464B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8D7DD-FC0B-AFFC-BE06-5B28151FE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51180-389F-3070-E8F6-D40808B03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1ECD3-684D-4C7E-CA4F-13C0200BC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A65CA-691B-9BB3-4EDE-D7E25A6C5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8093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1FC63-ACC2-A0D4-E054-ABF036A68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A933B-FECB-268A-6778-35BFAE973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3B02A1-1902-32A8-3607-5863A9F2C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EB25EB-B6C0-D5D9-51F6-C8E99CF14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24747-2808-D05B-2C02-029F1B04D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E2DC8-72D1-1FE3-3C1F-A6EB5750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124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54AF5-422A-CB94-8551-1A02BADA6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2B776-4AB0-B0DD-E2A2-F7AFB49BBE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07E40C-2456-7EA7-3780-492B2C616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527CD8-8B68-8BF1-E9BC-B5DB906975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BA317-4879-16AF-7CDD-07D65393E8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521975-4018-C8F6-1340-DAAEEA6CF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369B05-E903-6B7C-0DF8-62232B072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9DE28B-38DF-FB96-8348-61FB4004C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1751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15A5F-38D5-D607-B42A-8FE4649ED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66160-73CA-3E97-6D7A-CD4A65C37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B0F22-A646-461C-6023-1D3FDC0D6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2AE34-4658-E937-9BA6-8DFFF93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9822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46525-42E4-F6D3-2D31-A86880064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11F77C-CFAF-8B62-BF84-684ED0C06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74DD89-FC0C-BF7F-741B-64228D5B4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891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9EB81-729A-4174-64AA-881CCFE90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F8FB4-BAAD-055B-F85E-B9CEEE4F5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10334E-A242-EB8C-ACA6-3B6D26AAD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2780A-21E9-E139-DFC5-0647D2EB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F57D-5C7C-B71E-E048-79A0AE1C4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73F6EE-4EAF-273A-2BE0-920D74989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233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6943F-A539-C5D5-0B01-40537B45C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47E4E2-A38B-563B-192E-B243F4D7A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6FBF1A-60B9-91C5-E155-02A0F1F42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125E4F-C4E9-7A6B-009A-0442207A5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6A1967-5E1E-5757-1083-0A83E7631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E599F4-F70B-33F9-6FB7-C2E47CD4D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8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CB8C5-9E98-D5BB-A12F-5302C2781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5F56CB-BB49-E406-2AFD-9EEBF6CD28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3760F-AFEA-9C88-0053-A99FDC427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3BB25-1FCB-E981-5C0F-4EF039A8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E29E35-98E1-480D-5F38-ADCDBFA0E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518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7D226B-593D-E81F-CECC-24FD5F533D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4EB4A-AA09-A442-B0BA-E6F495D0C7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40A87B-AB85-9611-D1FA-17E4D4530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6CB07F-72C7-E943-1FD9-C17A7783E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AC86A7-1139-04D8-D2D3-B473E8587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3641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CF5F5A-2B82-83E3-B0FD-BB00179F5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BB84F-65FB-CA27-244C-B02593293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8DD6E-76BB-C550-430E-8C5BD7E42D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E6F20A-81D2-4336-992F-DFB57498C8DC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4B42A-87B7-C980-63A5-34AA07B108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A40409-FF1F-54DB-C5C5-2A81DBFAD9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8F69DB-C5A2-4FD0-B830-C70D8D4009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9666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2D288-9AB2-6DD3-24A1-6D907F85FA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64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Previsioni per </a:t>
            </a:r>
            <a:r>
              <a:rPr lang="en-GB" b="1" dirty="0" err="1"/>
              <a:t>gli</a:t>
            </a:r>
            <a:r>
              <a:rPr lang="en-GB" b="1" dirty="0"/>
              <a:t> </a:t>
            </a:r>
            <a:r>
              <a:rPr lang="en-GB" b="1" dirty="0" err="1"/>
              <a:t>investimenti</a:t>
            </a:r>
            <a:r>
              <a:rPr lang="en-GB" b="1" dirty="0"/>
              <a:t> per la </a:t>
            </a:r>
            <a:r>
              <a:rPr lang="en-GB" b="1" dirty="0" err="1"/>
              <a:t>sicurezza</a:t>
            </a:r>
            <a:r>
              <a:rPr lang="en-GB" b="1" dirty="0"/>
              <a:t> </a:t>
            </a:r>
            <a:r>
              <a:rPr lang="en-GB" b="1" dirty="0" err="1"/>
              <a:t>stradale</a:t>
            </a:r>
            <a:r>
              <a:rPr lang="en-GB" b="1" dirty="0"/>
              <a:t> in Italia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0B2A84-9076-F218-8468-502FE7F70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83929"/>
            <a:ext cx="9144000" cy="1655762"/>
          </a:xfrm>
        </p:spPr>
        <p:txBody>
          <a:bodyPr/>
          <a:lstStyle/>
          <a:p>
            <a:r>
              <a:rPr lang="en-GB" dirty="0"/>
              <a:t>Data Analytics Capstone Project — </a:t>
            </a:r>
            <a:r>
              <a:rPr lang="en-GB" dirty="0" err="1"/>
              <a:t>Analisi</a:t>
            </a:r>
            <a:r>
              <a:rPr lang="en-GB" dirty="0"/>
              <a:t> </a:t>
            </a:r>
            <a:r>
              <a:rPr lang="en-GB" dirty="0" err="1"/>
              <a:t>predittiva</a:t>
            </a:r>
            <a:r>
              <a:rPr lang="en-GB" dirty="0"/>
              <a:t> e </a:t>
            </a:r>
            <a:r>
              <a:rPr lang="en-GB" dirty="0" err="1"/>
              <a:t>classificazione</a:t>
            </a:r>
            <a:r>
              <a:rPr lang="en-GB" dirty="0"/>
              <a:t> del </a:t>
            </a:r>
            <a:r>
              <a:rPr lang="en-GB" dirty="0" err="1"/>
              <a:t>rischio</a:t>
            </a:r>
            <a:r>
              <a:rPr lang="en-GB" dirty="0"/>
              <a:t> </a:t>
            </a:r>
            <a:r>
              <a:rPr lang="en-GB" dirty="0" err="1"/>
              <a:t>dei</a:t>
            </a:r>
            <a:r>
              <a:rPr lang="en-GB" dirty="0"/>
              <a:t> </a:t>
            </a:r>
            <a:r>
              <a:rPr lang="en-GB" dirty="0" err="1"/>
              <a:t>comuni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95109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89B8A-0E23-981E-6664-8ECF3E6E9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Data Ingestion e </a:t>
            </a:r>
            <a:r>
              <a:rPr lang="en-GB" b="1" dirty="0" err="1"/>
              <a:t>Resilienza</a:t>
            </a:r>
            <a:r>
              <a:rPr lang="en-GB" b="1" dirty="0"/>
              <a:t> della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92465-8848-8C7E-70E7-476631160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8"/>
            <a:ext cx="10515600" cy="4351338"/>
          </a:xfrm>
        </p:spPr>
        <p:txBody>
          <a:bodyPr/>
          <a:lstStyle/>
          <a:p>
            <a:pPr lvl="1"/>
            <a:r>
              <a:rPr lang="en-GB" dirty="0" err="1"/>
              <a:t>Integrazione</a:t>
            </a:r>
            <a:r>
              <a:rPr lang="en-GB" dirty="0"/>
              <a:t> API ISTAT (Dati </a:t>
            </a:r>
            <a:r>
              <a:rPr lang="en-GB" dirty="0" err="1"/>
              <a:t>dinamici</a:t>
            </a:r>
            <a:r>
              <a:rPr lang="en-GB" dirty="0"/>
              <a:t> sui </a:t>
            </a:r>
            <a:r>
              <a:rPr lang="en-GB" dirty="0" err="1"/>
              <a:t>sinistri</a:t>
            </a:r>
            <a:r>
              <a:rPr lang="en-GB" dirty="0"/>
              <a:t>) e </a:t>
            </a:r>
            <a:r>
              <a:rPr lang="en-GB" dirty="0" err="1"/>
              <a:t>registri</a:t>
            </a:r>
            <a:r>
              <a:rPr lang="en-GB" dirty="0"/>
              <a:t> </a:t>
            </a:r>
            <a:r>
              <a:rPr lang="en-GB" dirty="0" err="1"/>
              <a:t>demografici</a:t>
            </a:r>
            <a:r>
              <a:rPr lang="en-GB" dirty="0"/>
              <a:t> SITUAS</a:t>
            </a:r>
          </a:p>
          <a:p>
            <a:pPr marL="457200" lvl="1" indent="0">
              <a:buNone/>
            </a:pPr>
            <a:endParaRPr lang="en-GB" sz="3200" dirty="0"/>
          </a:p>
          <a:p>
            <a:pPr lvl="1"/>
            <a:r>
              <a:rPr lang="en-GB" dirty="0" err="1"/>
              <a:t>Forzatura</a:t>
            </a:r>
            <a:r>
              <a:rPr lang="en-GB" dirty="0"/>
              <a:t> </a:t>
            </a:r>
            <a:r>
              <a:rPr lang="en-GB" dirty="0" err="1"/>
              <a:t>formato</a:t>
            </a:r>
            <a:r>
              <a:rPr lang="en-GB" dirty="0"/>
              <a:t> CSV </a:t>
            </a:r>
            <a:r>
              <a:rPr lang="en-GB" dirty="0" err="1"/>
              <a:t>tramite</a:t>
            </a:r>
            <a:r>
              <a:rPr lang="en-GB" dirty="0"/>
              <a:t> Header HTTP per </a:t>
            </a:r>
            <a:r>
              <a:rPr lang="en-GB" dirty="0" err="1"/>
              <a:t>ottimizzare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tempi di </a:t>
            </a:r>
            <a:r>
              <a:rPr lang="en-GB" dirty="0" err="1"/>
              <a:t>calcolo</a:t>
            </a:r>
            <a:endParaRPr lang="en-GB" dirty="0"/>
          </a:p>
          <a:p>
            <a:pPr lvl="1"/>
            <a:endParaRPr lang="en-GB" sz="3200" dirty="0"/>
          </a:p>
          <a:p>
            <a:pPr lvl="1"/>
            <a:r>
              <a:rPr lang="en-GB" dirty="0"/>
              <a:t>Caching locale </a:t>
            </a:r>
            <a:r>
              <a:rPr lang="en-GB" dirty="0" err="1"/>
              <a:t>condizionale</a:t>
            </a:r>
            <a:r>
              <a:rPr lang="en-GB" dirty="0"/>
              <a:t> per </a:t>
            </a:r>
            <a:r>
              <a:rPr lang="en-GB" dirty="0" err="1"/>
              <a:t>azzerare</a:t>
            </a:r>
            <a:r>
              <a:rPr lang="en-GB" dirty="0"/>
              <a:t> il </a:t>
            </a:r>
            <a:r>
              <a:rPr lang="en-GB" dirty="0" err="1"/>
              <a:t>rischio</a:t>
            </a:r>
            <a:r>
              <a:rPr lang="en-GB" dirty="0"/>
              <a:t> di ban da Rate Limit </a:t>
            </a:r>
            <a:r>
              <a:rPr lang="en-GB" dirty="0" err="1"/>
              <a:t>dell’API</a:t>
            </a:r>
            <a:endParaRPr lang="en-GB" dirty="0"/>
          </a:p>
          <a:p>
            <a:pPr lvl="1"/>
            <a:endParaRPr lang="en-GB" sz="3200" dirty="0"/>
          </a:p>
          <a:p>
            <a:pPr lvl="1"/>
            <a:r>
              <a:rPr lang="en-GB" dirty="0"/>
              <a:t>Inner Join </a:t>
            </a:r>
            <a:r>
              <a:rPr lang="en-GB" dirty="0" err="1"/>
              <a:t>matematico</a:t>
            </a:r>
            <a:r>
              <a:rPr lang="en-GB" dirty="0"/>
              <a:t> </a:t>
            </a:r>
            <a:r>
              <a:rPr lang="en-GB" dirty="0" err="1"/>
              <a:t>tramite</a:t>
            </a:r>
            <a:r>
              <a:rPr lang="en-GB" dirty="0"/>
              <a:t> il </a:t>
            </a:r>
            <a:r>
              <a:rPr lang="en-GB" dirty="0" err="1"/>
              <a:t>codice</a:t>
            </a:r>
            <a:r>
              <a:rPr lang="en-GB" dirty="0"/>
              <a:t> </a:t>
            </a:r>
            <a:r>
              <a:rPr lang="en-GB" dirty="0" err="1"/>
              <a:t>numerico</a:t>
            </a:r>
            <a:r>
              <a:rPr lang="en-GB" dirty="0"/>
              <a:t> </a:t>
            </a:r>
            <a:r>
              <a:rPr lang="en-GB" dirty="0" err="1"/>
              <a:t>univoco</a:t>
            </a:r>
            <a:r>
              <a:rPr lang="en-GB" dirty="0"/>
              <a:t> </a:t>
            </a:r>
            <a:r>
              <a:rPr lang="en-GB" dirty="0" err="1"/>
              <a:t>ministeriale</a:t>
            </a:r>
            <a:r>
              <a:rPr lang="en-GB" dirty="0"/>
              <a:t> REF_AREA</a:t>
            </a:r>
            <a:endParaRPr lang="en-GB" sz="32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8713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4E242-946A-E077-F0E5-3E717E1B8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Feature Engineering e </a:t>
            </a:r>
            <a:r>
              <a:rPr lang="en-GB" b="1" dirty="0" err="1"/>
              <a:t>Rimozione</a:t>
            </a:r>
            <a:r>
              <a:rPr lang="en-GB" b="1" dirty="0"/>
              <a:t> del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638C-1358-894C-7AD8-9CE1B51D3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8"/>
            <a:ext cx="10515600" cy="4351338"/>
          </a:xfrm>
        </p:spPr>
        <p:txBody>
          <a:bodyPr>
            <a:normAutofit lnSpcReduction="10000"/>
          </a:bodyPr>
          <a:lstStyle/>
          <a:p>
            <a:pPr lvl="1"/>
            <a:r>
              <a:rPr lang="en-GB" dirty="0"/>
              <a:t>Il </a:t>
            </a:r>
            <a:r>
              <a:rPr lang="en-GB" dirty="0" err="1"/>
              <a:t>dato</a:t>
            </a:r>
            <a:r>
              <a:rPr lang="en-GB" dirty="0"/>
              <a:t> </a:t>
            </a:r>
            <a:r>
              <a:rPr lang="en-GB" dirty="0" err="1"/>
              <a:t>assoluto</a:t>
            </a:r>
            <a:r>
              <a:rPr lang="en-GB" dirty="0"/>
              <a:t> degli </a:t>
            </a:r>
            <a:r>
              <a:rPr lang="en-GB" dirty="0" err="1"/>
              <a:t>incidenti</a:t>
            </a:r>
            <a:r>
              <a:rPr lang="en-GB" dirty="0"/>
              <a:t> (OBS_VALUE) genera un bias a </a:t>
            </a:r>
            <a:r>
              <a:rPr lang="en-GB" dirty="0" err="1"/>
              <a:t>favore</a:t>
            </a:r>
            <a:r>
              <a:rPr lang="en-GB" dirty="0"/>
              <a:t> delle </a:t>
            </a:r>
            <a:r>
              <a:rPr lang="en-GB" dirty="0" err="1"/>
              <a:t>grandi</a:t>
            </a:r>
            <a:r>
              <a:rPr lang="en-GB" dirty="0"/>
              <a:t> </a:t>
            </a:r>
            <a:r>
              <a:rPr lang="en-GB" dirty="0" err="1"/>
              <a:t>metropoli</a:t>
            </a:r>
            <a:endParaRPr lang="en-GB" dirty="0"/>
          </a:p>
          <a:p>
            <a:pPr lvl="1"/>
            <a:endParaRPr lang="en-GB" sz="3200" dirty="0"/>
          </a:p>
          <a:p>
            <a:pPr lvl="1"/>
            <a:r>
              <a:rPr lang="en-GB" dirty="0" err="1"/>
              <a:t>Ingegnerizzazione</a:t>
            </a:r>
            <a:r>
              <a:rPr lang="en-GB" dirty="0"/>
              <a:t> del Tasso Pro </a:t>
            </a:r>
            <a:r>
              <a:rPr lang="en-GB" dirty="0" err="1"/>
              <a:t>Capite</a:t>
            </a:r>
            <a:r>
              <a:rPr lang="en-GB" dirty="0"/>
              <a:t>: </a:t>
            </a:r>
            <a:r>
              <a:rPr lang="en-GB" dirty="0" err="1"/>
              <a:t>incidenti</a:t>
            </a:r>
            <a:r>
              <a:rPr lang="en-GB" dirty="0"/>
              <a:t> </a:t>
            </a:r>
            <a:r>
              <a:rPr lang="en-GB" dirty="0" err="1"/>
              <a:t>normalizzati</a:t>
            </a:r>
            <a:r>
              <a:rPr lang="en-GB" dirty="0"/>
              <a:t> </a:t>
            </a:r>
            <a:r>
              <a:rPr lang="en-GB" dirty="0" err="1"/>
              <a:t>su</a:t>
            </a:r>
            <a:r>
              <a:rPr lang="en-GB" dirty="0"/>
              <a:t> base 1.000 </a:t>
            </a:r>
            <a:r>
              <a:rPr lang="en-GB" dirty="0" err="1"/>
              <a:t>abitanti</a:t>
            </a:r>
            <a:endParaRPr lang="en-GB" dirty="0"/>
          </a:p>
          <a:p>
            <a:pPr lvl="1"/>
            <a:endParaRPr lang="en-GB" sz="3200" dirty="0"/>
          </a:p>
          <a:p>
            <a:pPr lvl="1"/>
            <a:r>
              <a:rPr lang="en-GB" dirty="0" err="1"/>
              <a:t>Ingegnerizzazione</a:t>
            </a:r>
            <a:r>
              <a:rPr lang="en-GB" dirty="0"/>
              <a:t> della </a:t>
            </a:r>
            <a:r>
              <a:rPr lang="en-GB" dirty="0" err="1"/>
              <a:t>Densità</a:t>
            </a:r>
            <a:r>
              <a:rPr lang="en-GB" dirty="0"/>
              <a:t> </a:t>
            </a:r>
            <a:r>
              <a:rPr lang="en-GB" dirty="0" err="1"/>
              <a:t>Spaziale</a:t>
            </a:r>
            <a:r>
              <a:rPr lang="en-GB" dirty="0"/>
              <a:t>: </a:t>
            </a:r>
            <a:r>
              <a:rPr lang="en-GB" dirty="0" err="1"/>
              <a:t>incidenti</a:t>
            </a:r>
            <a:r>
              <a:rPr lang="en-GB" dirty="0"/>
              <a:t> </a:t>
            </a:r>
            <a:r>
              <a:rPr lang="en-GB" dirty="0" err="1"/>
              <a:t>calcolati</a:t>
            </a:r>
            <a:r>
              <a:rPr lang="en-GB" dirty="0"/>
              <a:t> per </a:t>
            </a:r>
            <a:r>
              <a:rPr lang="en-GB" dirty="0" err="1"/>
              <a:t>chilometro</a:t>
            </a:r>
            <a:r>
              <a:rPr lang="en-GB" dirty="0"/>
              <a:t> </a:t>
            </a:r>
            <a:r>
              <a:rPr lang="en-GB" dirty="0" err="1"/>
              <a:t>quadrato</a:t>
            </a:r>
            <a:r>
              <a:rPr lang="en-GB" dirty="0"/>
              <a:t> (</a:t>
            </a:r>
            <a:r>
              <a:rPr lang="en-GB" dirty="0" err="1"/>
              <a:t>Kmq</a:t>
            </a:r>
            <a:r>
              <a:rPr lang="en-GB" dirty="0"/>
              <a:t>)</a:t>
            </a:r>
          </a:p>
          <a:p>
            <a:pPr lvl="1"/>
            <a:endParaRPr lang="en-GB" sz="3200" dirty="0"/>
          </a:p>
          <a:p>
            <a:pPr lvl="1"/>
            <a:r>
              <a:rPr lang="en-GB" dirty="0"/>
              <a:t>Valore di Business: </a:t>
            </a:r>
            <a:r>
              <a:rPr lang="en-GB" dirty="0" err="1"/>
              <a:t>individuare</a:t>
            </a:r>
            <a:r>
              <a:rPr lang="en-GB" dirty="0"/>
              <a:t> le </a:t>
            </a:r>
            <a:r>
              <a:rPr lang="en-GB" dirty="0" err="1"/>
              <a:t>reali</a:t>
            </a:r>
            <a:r>
              <a:rPr lang="en-GB" dirty="0"/>
              <a:t> </a:t>
            </a:r>
            <a:r>
              <a:rPr lang="en-GB" dirty="0" err="1"/>
              <a:t>criticità</a:t>
            </a:r>
            <a:r>
              <a:rPr lang="en-GB" dirty="0"/>
              <a:t> </a:t>
            </a:r>
            <a:r>
              <a:rPr lang="en-GB" dirty="0" err="1"/>
              <a:t>infrastrutturali</a:t>
            </a:r>
            <a:r>
              <a:rPr lang="en-GB" dirty="0"/>
              <a:t> </a:t>
            </a:r>
            <a:r>
              <a:rPr lang="en-GB" dirty="0" err="1"/>
              <a:t>anche</a:t>
            </a:r>
            <a:r>
              <a:rPr lang="en-GB" dirty="0"/>
              <a:t> </a:t>
            </a:r>
            <a:r>
              <a:rPr lang="en-GB" dirty="0" err="1"/>
              <a:t>nei</a:t>
            </a:r>
            <a:r>
              <a:rPr lang="en-GB" dirty="0"/>
              <a:t> </a:t>
            </a:r>
            <a:r>
              <a:rPr lang="en-GB" dirty="0" err="1"/>
              <a:t>centri</a:t>
            </a:r>
            <a:r>
              <a:rPr lang="en-GB" dirty="0"/>
              <a:t> </a:t>
            </a:r>
            <a:r>
              <a:rPr lang="en-GB" dirty="0" err="1"/>
              <a:t>minori</a:t>
            </a:r>
            <a:endParaRPr lang="en-GB" sz="32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4115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09D84-A887-E95F-0692-CBA63829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60500"/>
          </a:xfrm>
        </p:spPr>
        <p:txBody>
          <a:bodyPr/>
          <a:lstStyle/>
          <a:p>
            <a:pPr algn="ctr"/>
            <a:r>
              <a:rPr lang="en-GB" b="1" dirty="0"/>
              <a:t>Advanced Analytics: Machine Learning con</a:t>
            </a:r>
            <a:br>
              <a:rPr lang="en-GB" b="1" dirty="0"/>
            </a:br>
            <a:r>
              <a:rPr lang="en-GB" b="1" dirty="0"/>
              <a:t> K-Means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6AB73-D1C1-391A-715F-40C7DAF5F5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20982"/>
            <a:ext cx="3380509" cy="5237018"/>
          </a:xfrm>
        </p:spPr>
        <p:txBody>
          <a:bodyPr>
            <a:normAutofit lnSpcReduction="10000"/>
          </a:bodyPr>
          <a:lstStyle/>
          <a:p>
            <a:pPr lvl="1"/>
            <a:r>
              <a:rPr lang="en-GB" sz="1800" dirty="0" err="1"/>
              <a:t>Standardizzazione</a:t>
            </a:r>
            <a:r>
              <a:rPr lang="en-GB" sz="1800" dirty="0"/>
              <a:t> delle feature </a:t>
            </a:r>
            <a:r>
              <a:rPr lang="en-GB" sz="1800" dirty="0" err="1"/>
              <a:t>tramite</a:t>
            </a:r>
            <a:r>
              <a:rPr lang="en-GB" sz="1800" dirty="0"/>
              <a:t> </a:t>
            </a:r>
            <a:r>
              <a:rPr lang="en-GB" sz="1800" dirty="0" err="1"/>
              <a:t>StandardScaler</a:t>
            </a:r>
            <a:r>
              <a:rPr lang="en-GB" sz="1800" dirty="0"/>
              <a:t> per </a:t>
            </a:r>
            <a:r>
              <a:rPr lang="en-GB" sz="1800" dirty="0" err="1"/>
              <a:t>equilibrare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/>
              <a:t> </a:t>
            </a:r>
            <a:r>
              <a:rPr lang="en-GB" sz="1800" dirty="0" err="1"/>
              <a:t>pesi</a:t>
            </a:r>
            <a:r>
              <a:rPr lang="en-GB" sz="1800" dirty="0"/>
              <a:t> </a:t>
            </a:r>
            <a:r>
              <a:rPr lang="en-GB" sz="1800" dirty="0" err="1"/>
              <a:t>geometrici</a:t>
            </a:r>
            <a:endParaRPr lang="en-GB" sz="1800" dirty="0"/>
          </a:p>
          <a:p>
            <a:pPr lvl="1"/>
            <a:endParaRPr lang="en-GB" sz="1800" dirty="0"/>
          </a:p>
          <a:p>
            <a:pPr lvl="1"/>
            <a:r>
              <a:rPr lang="en-GB" sz="1800" dirty="0" err="1"/>
              <a:t>Modello</a:t>
            </a:r>
            <a:r>
              <a:rPr lang="en-GB" sz="1800" dirty="0"/>
              <a:t> non </a:t>
            </a:r>
            <a:r>
              <a:rPr lang="en-GB" sz="1800" dirty="0" err="1"/>
              <a:t>supervisionato</a:t>
            </a:r>
            <a:r>
              <a:rPr lang="en-GB" sz="1800" dirty="0"/>
              <a:t> K-Means </a:t>
            </a:r>
            <a:r>
              <a:rPr lang="en-GB" sz="1800" dirty="0" err="1"/>
              <a:t>addestrato</a:t>
            </a:r>
            <a:r>
              <a:rPr lang="en-GB" sz="1800" dirty="0"/>
              <a:t> </a:t>
            </a:r>
            <a:r>
              <a:rPr lang="en-GB" sz="1800" dirty="0" err="1"/>
              <a:t>su</a:t>
            </a:r>
            <a:r>
              <a:rPr lang="en-GB" sz="1800" dirty="0"/>
              <a:t> 3 cluster </a:t>
            </a:r>
            <a:r>
              <a:rPr lang="en-GB" sz="1800" dirty="0" err="1"/>
              <a:t>fisici</a:t>
            </a:r>
            <a:r>
              <a:rPr lang="en-GB" sz="1800" dirty="0"/>
              <a:t> di </a:t>
            </a:r>
            <a:r>
              <a:rPr lang="en-GB" sz="1800" dirty="0" err="1"/>
              <a:t>rischio</a:t>
            </a:r>
            <a:endParaRPr lang="en-GB" sz="1800" dirty="0"/>
          </a:p>
          <a:p>
            <a:pPr lvl="1"/>
            <a:endParaRPr lang="en-GB" sz="1800" dirty="0"/>
          </a:p>
          <a:p>
            <a:pPr lvl="1"/>
            <a:r>
              <a:rPr lang="en-GB" sz="1800" dirty="0" err="1"/>
              <a:t>Piramide</a:t>
            </a:r>
            <a:r>
              <a:rPr lang="en-GB" sz="1800" dirty="0"/>
              <a:t> del </a:t>
            </a:r>
            <a:r>
              <a:rPr lang="en-GB" sz="1800" dirty="0" err="1"/>
              <a:t>rischio</a:t>
            </a:r>
            <a:r>
              <a:rPr lang="en-GB" sz="1800" dirty="0"/>
              <a:t>: 5.905 </a:t>
            </a:r>
            <a:r>
              <a:rPr lang="en-GB" sz="1800" dirty="0" err="1"/>
              <a:t>comuni</a:t>
            </a:r>
            <a:r>
              <a:rPr lang="en-GB" sz="1800" dirty="0"/>
              <a:t> a Basso </a:t>
            </a:r>
            <a:r>
              <a:rPr lang="en-GB" sz="1800" dirty="0" err="1"/>
              <a:t>Rischio</a:t>
            </a:r>
            <a:r>
              <a:rPr lang="en-GB" sz="1800" dirty="0"/>
              <a:t>, 1.846 Medio </a:t>
            </a:r>
            <a:r>
              <a:rPr lang="en-GB" sz="1800" dirty="0" err="1"/>
              <a:t>Rischio</a:t>
            </a:r>
            <a:r>
              <a:rPr lang="en-GB" sz="1800" dirty="0"/>
              <a:t>, 148 ad Alto </a:t>
            </a:r>
            <a:r>
              <a:rPr lang="en-GB" sz="1800" dirty="0" err="1"/>
              <a:t>Rischio</a:t>
            </a:r>
            <a:endParaRPr lang="en-GB" sz="1800" dirty="0"/>
          </a:p>
          <a:p>
            <a:pPr lvl="1"/>
            <a:endParaRPr lang="en-GB" sz="1800" dirty="0"/>
          </a:p>
          <a:p>
            <a:pPr lvl="1"/>
            <a:r>
              <a:rPr lang="en-GB" sz="1800" dirty="0" err="1"/>
              <a:t>Mappatura</a:t>
            </a:r>
            <a:r>
              <a:rPr lang="en-GB" sz="1800" dirty="0"/>
              <a:t> </a:t>
            </a:r>
            <a:r>
              <a:rPr lang="en-GB" sz="1800" dirty="0" err="1"/>
              <a:t>logaritmica</a:t>
            </a:r>
            <a:r>
              <a:rPr lang="en-GB" sz="1800" dirty="0"/>
              <a:t> </a:t>
            </a:r>
            <a:r>
              <a:rPr lang="en-GB" sz="1800" dirty="0" err="1"/>
              <a:t>sull'asse</a:t>
            </a:r>
            <a:r>
              <a:rPr lang="en-GB" sz="1800" dirty="0"/>
              <a:t> Y per </a:t>
            </a:r>
            <a:r>
              <a:rPr lang="en-GB" sz="1800" dirty="0" err="1"/>
              <a:t>gestire</a:t>
            </a:r>
            <a:r>
              <a:rPr lang="en-GB" sz="1800" dirty="0"/>
              <a:t> la forte </a:t>
            </a:r>
            <a:r>
              <a:rPr lang="en-GB" sz="1800" dirty="0" err="1"/>
              <a:t>asimmetria</a:t>
            </a:r>
            <a:r>
              <a:rPr lang="en-GB" sz="1800" dirty="0"/>
              <a:t> </a:t>
            </a:r>
            <a:r>
              <a:rPr lang="en-GB" sz="1800" dirty="0" err="1"/>
              <a:t>dei</a:t>
            </a:r>
            <a:r>
              <a:rPr lang="en-GB" sz="1800" dirty="0"/>
              <a:t> </a:t>
            </a:r>
            <a:r>
              <a:rPr lang="en-GB" sz="1800" dirty="0" err="1"/>
              <a:t>centri</a:t>
            </a:r>
            <a:r>
              <a:rPr lang="en-GB" sz="1800" dirty="0"/>
              <a:t> </a:t>
            </a:r>
            <a:r>
              <a:rPr lang="en-GB" sz="1800" dirty="0" err="1"/>
              <a:t>urbani</a:t>
            </a:r>
            <a:br>
              <a:rPr lang="en-GB" dirty="0"/>
            </a:br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824ACC-A108-D587-5A62-8ACD827623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0509" y="1620982"/>
            <a:ext cx="8811491" cy="528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266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9F029-2BB2-43C8-793D-2F78CE98B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Forecasting </a:t>
            </a:r>
            <a:r>
              <a:rPr lang="en-GB" b="1" dirty="0" err="1"/>
              <a:t>Predittivo</a:t>
            </a:r>
            <a:r>
              <a:rPr lang="en-GB" b="1" dirty="0"/>
              <a:t> e </a:t>
            </a:r>
            <a:r>
              <a:rPr lang="en-GB" b="1" dirty="0" err="1"/>
              <a:t>Visione</a:t>
            </a:r>
            <a:r>
              <a:rPr lang="en-GB" b="1" dirty="0"/>
              <a:t> </a:t>
            </a:r>
            <a:r>
              <a:rPr lang="en-GB" b="1" dirty="0" err="1"/>
              <a:t>Strategica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685B06-6B6E-DAB6-0091-55787745AB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GB" dirty="0" err="1"/>
              <a:t>Regressione</a:t>
            </a:r>
            <a:r>
              <a:rPr lang="en-GB" dirty="0"/>
              <a:t> </a:t>
            </a:r>
            <a:r>
              <a:rPr lang="en-GB" dirty="0" err="1"/>
              <a:t>Lineare</a:t>
            </a:r>
            <a:r>
              <a:rPr lang="en-GB" dirty="0"/>
              <a:t> </a:t>
            </a:r>
            <a:r>
              <a:rPr lang="en-GB" dirty="0" err="1"/>
              <a:t>applicata</a:t>
            </a:r>
            <a:r>
              <a:rPr lang="en-GB" dirty="0"/>
              <a:t> </a:t>
            </a:r>
            <a:r>
              <a:rPr lang="en-GB" dirty="0" err="1"/>
              <a:t>sulla</a:t>
            </a:r>
            <a:r>
              <a:rPr lang="en-GB" dirty="0"/>
              <a:t> </a:t>
            </a:r>
            <a:r>
              <a:rPr lang="en-GB" dirty="0" err="1"/>
              <a:t>serie</a:t>
            </a:r>
            <a:r>
              <a:rPr lang="en-GB" dirty="0"/>
              <a:t> </a:t>
            </a:r>
            <a:r>
              <a:rPr lang="en-GB" dirty="0" err="1"/>
              <a:t>storica</a:t>
            </a:r>
            <a:r>
              <a:rPr lang="en-GB" dirty="0"/>
              <a:t> per </a:t>
            </a:r>
            <a:r>
              <a:rPr lang="en-GB" dirty="0" err="1"/>
              <a:t>isolare</a:t>
            </a:r>
            <a:r>
              <a:rPr lang="en-GB" dirty="0"/>
              <a:t> il trend </a:t>
            </a:r>
            <a:r>
              <a:rPr lang="en-GB" dirty="0" err="1"/>
              <a:t>nazionale</a:t>
            </a:r>
            <a:endParaRPr lang="en-GB" dirty="0"/>
          </a:p>
          <a:p>
            <a:pPr lvl="1"/>
            <a:endParaRPr lang="en-GB" sz="3200" dirty="0"/>
          </a:p>
          <a:p>
            <a:pPr lvl="1"/>
            <a:r>
              <a:rPr lang="en-GB" dirty="0"/>
              <a:t>Stima </a:t>
            </a:r>
            <a:r>
              <a:rPr lang="en-GB" dirty="0" err="1"/>
              <a:t>volumetrica</a:t>
            </a:r>
            <a:r>
              <a:rPr lang="en-GB" dirty="0"/>
              <a:t> per il 2026: </a:t>
            </a:r>
            <a:r>
              <a:rPr lang="en-GB" dirty="0" err="1"/>
              <a:t>previsti</a:t>
            </a:r>
            <a:r>
              <a:rPr lang="en-GB" dirty="0"/>
              <a:t> circa 190.729 </a:t>
            </a:r>
            <a:r>
              <a:rPr lang="en-GB" dirty="0" err="1"/>
              <a:t>incidenti</a:t>
            </a:r>
            <a:r>
              <a:rPr lang="en-GB" dirty="0"/>
              <a:t> </a:t>
            </a:r>
            <a:r>
              <a:rPr lang="en-GB" dirty="0" err="1"/>
              <a:t>totali</a:t>
            </a:r>
            <a:r>
              <a:rPr lang="en-GB" dirty="0"/>
              <a:t> (Trend in </a:t>
            </a:r>
            <a:r>
              <a:rPr lang="en-GB" dirty="0" err="1"/>
              <a:t>crescita</a:t>
            </a:r>
            <a:r>
              <a:rPr lang="en-GB" dirty="0"/>
              <a:t>)</a:t>
            </a:r>
          </a:p>
          <a:p>
            <a:pPr lvl="1"/>
            <a:endParaRPr lang="en-GB" sz="3200" dirty="0"/>
          </a:p>
          <a:p>
            <a:pPr lvl="1"/>
            <a:r>
              <a:rPr lang="en-GB" dirty="0" err="1"/>
              <a:t>Allocazione</a:t>
            </a:r>
            <a:r>
              <a:rPr lang="en-GB" dirty="0"/>
              <a:t> </a:t>
            </a:r>
            <a:r>
              <a:rPr lang="en-GB" dirty="0" err="1"/>
              <a:t>Chirurgica</a:t>
            </a:r>
            <a:r>
              <a:rPr lang="en-GB" dirty="0"/>
              <a:t> del Budget: focus </a:t>
            </a:r>
            <a:r>
              <a:rPr lang="en-GB" dirty="0" err="1"/>
              <a:t>esclusivo</a:t>
            </a:r>
            <a:r>
              <a:rPr lang="en-GB" dirty="0"/>
              <a:t> sui 148 </a:t>
            </a:r>
            <a:r>
              <a:rPr lang="en-GB" dirty="0" err="1"/>
              <a:t>comuni</a:t>
            </a:r>
            <a:r>
              <a:rPr lang="en-GB" dirty="0"/>
              <a:t> ad Alto </a:t>
            </a:r>
            <a:r>
              <a:rPr lang="en-GB" dirty="0" err="1"/>
              <a:t>Rischio</a:t>
            </a:r>
            <a:endParaRPr lang="en-GB" dirty="0"/>
          </a:p>
          <a:p>
            <a:pPr lvl="1"/>
            <a:endParaRPr lang="en-GB" sz="3200" dirty="0"/>
          </a:p>
          <a:p>
            <a:pPr lvl="1"/>
            <a:r>
              <a:rPr lang="en-GB" dirty="0" err="1"/>
              <a:t>Obiettivo</a:t>
            </a:r>
            <a:r>
              <a:rPr lang="en-GB" dirty="0"/>
              <a:t> di Business </a:t>
            </a:r>
            <a:r>
              <a:rPr lang="en-GB" dirty="0" err="1"/>
              <a:t>centrato</a:t>
            </a:r>
            <a:r>
              <a:rPr lang="en-GB" dirty="0"/>
              <a:t>: </a:t>
            </a:r>
            <a:r>
              <a:rPr lang="en-GB" dirty="0" err="1"/>
              <a:t>massimizzazione</a:t>
            </a:r>
            <a:r>
              <a:rPr lang="en-GB" dirty="0"/>
              <a:t> del ROI </a:t>
            </a:r>
            <a:r>
              <a:rPr lang="en-GB" dirty="0" err="1"/>
              <a:t>aziendale</a:t>
            </a:r>
            <a:r>
              <a:rPr lang="en-GB" dirty="0"/>
              <a:t> e </a:t>
            </a:r>
            <a:r>
              <a:rPr lang="en-GB" dirty="0" err="1"/>
              <a:t>prevenzione</a:t>
            </a:r>
            <a:r>
              <a:rPr lang="en-GB" dirty="0"/>
              <a:t> </a:t>
            </a:r>
            <a:r>
              <a:rPr lang="en-GB" dirty="0" err="1"/>
              <a:t>mirata</a:t>
            </a: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0226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260</Words>
  <Application>Microsoft Office PowerPoint</Application>
  <PresentationFormat>Widescreen</PresentationFormat>
  <Paragraphs>34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Previsioni per gli investimenti per la sicurezza stradale in Italia</vt:lpstr>
      <vt:lpstr>Data Ingestion e Resilienza della Pipeline</vt:lpstr>
      <vt:lpstr>Feature Engineering e Rimozione del Bias</vt:lpstr>
      <vt:lpstr>Advanced Analytics: Machine Learning con  K-Means</vt:lpstr>
      <vt:lpstr>Forecasting Predittivo e Visione Strategica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Calogero Sutera</dc:creator>
  <cp:lastModifiedBy>Calogero Sutera</cp:lastModifiedBy>
  <cp:revision>1</cp:revision>
  <dcterms:created xsi:type="dcterms:W3CDTF">2026-07-30T09:33:01Z</dcterms:created>
  <dcterms:modified xsi:type="dcterms:W3CDTF">2026-07-30T09:33:17Z</dcterms:modified>
</cp:coreProperties>
</file>