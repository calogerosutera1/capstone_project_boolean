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852160" cy="5852160"/>
          </a:xfrm>
          <a:prstGeom prst="ellipse">
            <a:avLst/>
          </a:prstGeom>
          <a:solidFill>
            <a:srgbClr val="1C283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548640"/>
            <a:ext cx="4023360" cy="4023360"/>
          </a:xfrm>
          <a:prstGeom prst="ellipse">
            <a:avLst/>
          </a:prstGeom>
          <a:solidFill>
            <a:srgbClr val="F5A623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274320"/>
            <a:ext cx="2377440" cy="2377440"/>
          </a:xfrm>
          <a:prstGeom prst="ellipse">
            <a:avLst/>
          </a:prstGeom>
          <a:solidFill>
            <a:srgbClr val="F5A623">
              <a:alpha val="25000"/>
            </a:srgbClr>
          </a:solidFill>
          <a:ln/>
        </p:spPr>
      </p:sp>
      <p:pic>
        <p:nvPicPr>
          <p:cNvPr id="5" name="Image 0" descr="icon_carburst_white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502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· CAPSTONE 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Previsioni per gli investimenti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sulla sicurezza stradale in Italia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4251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predittiva e classificazione del rischio dei comuni italiani, a supporto delle decisioni di investimento in sicurezza stradale.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883664" cy="38404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580644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ISTAT &amp; SITUAS API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15184" y="5806440"/>
            <a:ext cx="2231136" cy="38404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15184" y="5806440"/>
            <a:ext cx="2231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EDA · K-Means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5806440"/>
            <a:ext cx="1970532" cy="38404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5806440"/>
            <a:ext cx="19705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 Lineare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182612" y="5806440"/>
            <a:ext cx="1014984" cy="384048"/>
          </a:xfrm>
          <a:prstGeom prst="roundRect">
            <a:avLst>
              <a:gd name="adj" fmla="val 19048"/>
            </a:avLst>
          </a:prstGeom>
          <a:solidFill>
            <a:srgbClr val="1C2836"/>
          </a:solidFill>
          <a:ln w="9525">
            <a:solidFill>
              <a:srgbClr val="2E3E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182612" y="5806440"/>
            <a:ext cx="1014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Ingestion e Resilienza della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dell'API ISTAT (dati dinamici sui sinistri) con i registri demografici SITUAS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8424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6" name="Image 0" descr="icon_ing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14884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94767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 CSV via Header HTTP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74320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 forzata in formato CSV tramite header HTTP Accept, per ottimizzare i tempi di parsing e calcolo rispetto all'XML nativo.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0" y="198424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1" name="Image 1" descr="icon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14884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94767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Caching locale condizionale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83680" y="274320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locale condizionale per azzerare il rischio di ban da rate limit dell'API e rendere la pipeline resiliente a esecuzioni ripetute.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3891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8680" y="468172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6" name="Image 2" descr="icon_mer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84632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64515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 Join su codice REF_AREA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68680" y="54406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 matematica dei due dataset tramite il codice numerico univoco ministeriale REF_AREA, per collegare sinistri e anagrafica comuni.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3891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83680" y="4681728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21" name="Image 3" descr="icon_fil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84632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645152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Automazione &amp; aggiornamento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83680" y="54406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automatico e ripetibile, pensato per i nuovi rilasci periodici del dataset ISTAT, con pulizia e normalizzazione a valle.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e Rimozione del Bias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0" cy="4892040"/>
          </a:xfrm>
          <a:prstGeom prst="roundRect">
            <a:avLst>
              <a:gd name="adj" fmla="val 1869"/>
            </a:avLst>
          </a:prstGeom>
          <a:solidFill>
            <a:srgbClr val="1C2836"/>
          </a:solidFill>
          <a:ln/>
        </p:spPr>
      </p:sp>
      <p:pic>
        <p:nvPicPr>
          <p:cNvPr id="4" name="Image 0" descr="icon_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087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5087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dato assoluto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14884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assoluto di incidenti (OBS_VALUE) genera un bias sistematico a favore delle grandi metropoli, penalizzando l'analisi delle reali criticità infrastrutturali.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8680" y="3246120"/>
            <a:ext cx="4389120" cy="0"/>
          </a:xfrm>
          <a:prstGeom prst="line">
            <a:avLst/>
          </a:prstGeom>
          <a:noFill/>
          <a:ln w="12700">
            <a:solidFill>
              <a:srgbClr val="2E3E4E"/>
            </a:solidFill>
            <a:prstDash val="solid"/>
          </a:ln>
        </p:spPr>
      </p:sp>
      <p:pic>
        <p:nvPicPr>
          <p:cNvPr id="8" name="Image 1" descr="icon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520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520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 di Business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416052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Individuare le reali criticità infrastrutturali anche nei centri minori, spesso invisibili se si guarda solo al totale sinistri.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5257800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“Normalizzare per rendere visibile ciò che il dato grezzo nasconde.”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943600" y="1234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nuove feature ingegnerizzate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0" y="1737360"/>
            <a:ext cx="5669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3E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63640" y="2057400"/>
            <a:ext cx="640080" cy="640080"/>
          </a:xfrm>
          <a:prstGeom prst="ellipse">
            <a:avLst/>
          </a:prstGeom>
          <a:solidFill>
            <a:srgbClr val="FFF3DF"/>
          </a:solidFill>
          <a:ln/>
        </p:spPr>
      </p:sp>
      <p:pic>
        <p:nvPicPr>
          <p:cNvPr id="15" name="Image 2" descr="icon_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219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86600" y="19659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Tasso Pro Capite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263640" y="2450592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normalizzati su base 1.000 abitanti, per confrontare comuni di dimensioni molto diverse su una base comune.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943600" y="3931920"/>
            <a:ext cx="5669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3E9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63640" y="4251960"/>
            <a:ext cx="640080" cy="640080"/>
          </a:xfrm>
          <a:prstGeom prst="ellipse">
            <a:avLst/>
          </a:prstGeom>
          <a:solidFill>
            <a:srgbClr val="DCF9F4"/>
          </a:solidFill>
          <a:ln/>
        </p:spPr>
      </p:sp>
      <p:pic>
        <p:nvPicPr>
          <p:cNvPr id="20" name="Image 3" descr="icon_loc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441655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086600" y="41605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Densità Spaziale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263640" y="4645152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calcolati per chilometro quadrato (Kmq), per far emergere le criticità concentrate su territori piccoli e densi.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Analytics: Machine Learning con K-Means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non supervisionato addestrato per individuare cluster fisici di rischio tra i comuni italiani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03504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/>
        </p:spPr>
      </p:sp>
      <p:pic>
        <p:nvPicPr>
          <p:cNvPr id="5" name="Image 0" descr="unpacked/ppt/media/image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783080"/>
            <a:ext cx="566928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03720" y="1691640"/>
            <a:ext cx="457200" cy="457200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7" name="Image 1" descr="icon_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18013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525512" y="1664208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 delle feature tramite StandardScaler, per equilibrare i pesi geometrici tra tasso pro capite e densità.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903720" y="2560320"/>
            <a:ext cx="457200" cy="457200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0" name="Image 2" descr="icon_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26700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525512" y="2532888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K-Means addestrato su 3 cluster fisici di rischio (Basso, Medio, Alto), escludendo i comuni sotto i 500 abitanti.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903720" y="3429000"/>
            <a:ext cx="457200" cy="457200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3" name="Image 3" descr="icon_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53872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25512" y="3401568"/>
            <a:ext cx="4087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logaritmica sull'asse Y per gestire la forte asimmetria dei centri urbani più popolosi.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6903720" y="434340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PIRAMIDE DEL RISCHIO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90372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2ECC7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90372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4.897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699516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 Basso Rischio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853440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F5A623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53440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1.940</a:t>
            </a:r>
            <a:endParaRPr lang="en-US" sz="2200" dirty="0"/>
          </a:p>
        </p:txBody>
      </p:sp>
      <p:sp>
        <p:nvSpPr>
          <p:cNvPr id="21" name="Text 15"/>
          <p:cNvSpPr/>
          <p:nvPr/>
        </p:nvSpPr>
        <p:spPr>
          <a:xfrm>
            <a:off x="862584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 Medio Rischio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10165080" y="4709160"/>
            <a:ext cx="1447800" cy="1417320"/>
          </a:xfrm>
          <a:prstGeom prst="roundRect">
            <a:avLst>
              <a:gd name="adj" fmla="val 5161"/>
            </a:avLst>
          </a:prstGeom>
          <a:solidFill>
            <a:srgbClr val="1C2836"/>
          </a:solidFill>
          <a:ln w="15875">
            <a:solidFill>
              <a:srgbClr val="E74C3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10165080" y="4828032"/>
            <a:ext cx="144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10256520" y="5440680"/>
            <a:ext cx="126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 ad Alto Rischio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852160" cy="5852160"/>
          </a:xfrm>
          <a:prstGeom prst="ellipse">
            <a:avLst/>
          </a:prstGeom>
          <a:solidFill>
            <a:srgbClr val="1C2836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Predittivo e Visione Strategica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Regressione lineare applicata sulla serie storica per isolare il trend nazionale degli incidenti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206240" cy="4434840"/>
          </a:xfrm>
          <a:prstGeom prst="roundRect">
            <a:avLst>
              <a:gd name="adj" fmla="val 2609"/>
            </a:avLst>
          </a:prstGeom>
          <a:solidFill>
            <a:srgbClr val="1C2836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STIMA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190.729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incidenti totali stimati a livello nazionale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206240"/>
            <a:ext cx="3566160" cy="0"/>
          </a:xfrm>
          <a:prstGeom prst="line">
            <a:avLst/>
          </a:prstGeom>
          <a:noFill/>
          <a:ln w="12700">
            <a:solidFill>
              <a:srgbClr val="2E3E4E"/>
            </a:solidFill>
            <a:prstDash val="solid"/>
          </a:ln>
        </p:spPr>
      </p:sp>
      <p:pic>
        <p:nvPicPr>
          <p:cNvPr id="10" name="Image 0" descr="icon_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3484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441655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C7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nazionale in crescita rispetto agli anni precedenti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120640" y="1828800"/>
            <a:ext cx="6492240" cy="1783080"/>
          </a:xfrm>
          <a:prstGeom prst="roundRect">
            <a:avLst>
              <a:gd name="adj" fmla="val 5128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40680" y="2103120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4" name="Image 1" descr="icon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2267712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263640" y="2029968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Allocazione chirurgica del budget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5440680" y="278892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esclusivo sui 152 comuni ad Alto Rischio individuati dal clustering, per massimizzare l'impatto degli investimenti.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840480"/>
            <a:ext cx="6492240" cy="1783080"/>
          </a:xfrm>
          <a:prstGeom prst="roundRect">
            <a:avLst>
              <a:gd name="adj" fmla="val 5128"/>
            </a:avLst>
          </a:prstGeom>
          <a:solidFill>
            <a:srgbClr val="1C2836"/>
          </a:solidFill>
          <a:ln w="12700">
            <a:solidFill>
              <a:srgbClr val="26354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40680" y="4114800"/>
            <a:ext cx="658368" cy="658368"/>
          </a:xfrm>
          <a:prstGeom prst="ellipse">
            <a:avLst/>
          </a:prstGeom>
          <a:solidFill>
            <a:srgbClr val="22303F"/>
          </a:solidFill>
          <a:ln w="12700">
            <a:solidFill>
              <a:srgbClr val="324459"/>
            </a:solidFill>
            <a:prstDash val="solid"/>
          </a:ln>
        </p:spPr>
      </p:sp>
      <p:pic>
        <p:nvPicPr>
          <p:cNvPr id="19" name="Image 2" descr="icon_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427939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4041648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 di business centrato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5440680" y="4800600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Massimizzazione del ROI aziendale attraverso una prevenzione mirata, invece di interventi diffusi e poco efficienti.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120640" y="589788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dato grezzo alla decisione di investimento: una pipeline completa, dalla raccolta al ROI.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Capstone — ISTAT Traffic Risk Analysis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789920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2026-07-30T16:55:23Z</dcterms:created>
  <dcterms:modified xsi:type="dcterms:W3CDTF">2026-07-30T16:55:23Z</dcterms:modified>
</cp:coreProperties>
</file>