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852160" cy="5852160"/>
          </a:xfrm>
          <a:prstGeom prst="ellipse">
            <a:avLst/>
          </a:prstGeom>
          <a:solidFill>
            <a:srgbClr val="1C283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4023360" cy="402336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274320"/>
            <a:ext cx="2377440" cy="237744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</p:sp>
      <p:pic>
        <p:nvPicPr>
          <p:cNvPr id="5" name="Image 0" descr="icon_carburst_whit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· CAPSTONE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Previsioni per gli investimenti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sulla sicurezza stradale in Italia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251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predittiva e classificazione del rischio dei comuni italiani, a supporto delle decisioni di investimento in sicurezza stradale.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1883664" cy="384048"/>
          </a:xfrm>
          <a:prstGeom prst="roundRect">
            <a:avLst>
              <a:gd name="adj" fmla="val 19048"/>
            </a:avLst>
          </a:prstGeom>
          <a:solidFill>
            <a:srgbClr val="1C2836"/>
          </a:solidFill>
          <a:ln w="9525">
            <a:solidFill>
              <a:srgbClr val="2E3E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80644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ISTAT &amp; SITUAS API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15184" y="5806440"/>
            <a:ext cx="2231136" cy="384048"/>
          </a:xfrm>
          <a:prstGeom prst="roundRect">
            <a:avLst>
              <a:gd name="adj" fmla="val 19048"/>
            </a:avLst>
          </a:prstGeom>
          <a:solidFill>
            <a:srgbClr val="1C2836"/>
          </a:solidFill>
          <a:ln w="9525">
            <a:solidFill>
              <a:srgbClr val="2E3E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15184" y="5806440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EDA · K-Means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0" y="5806440"/>
            <a:ext cx="1970532" cy="384048"/>
          </a:xfrm>
          <a:prstGeom prst="roundRect">
            <a:avLst>
              <a:gd name="adj" fmla="val 19048"/>
            </a:avLst>
          </a:prstGeom>
          <a:solidFill>
            <a:srgbClr val="1C2836"/>
          </a:solidFill>
          <a:ln w="9525">
            <a:solidFill>
              <a:srgbClr val="2E3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5806440"/>
            <a:ext cx="19705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 Lineare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182612" y="5806440"/>
            <a:ext cx="1014984" cy="384048"/>
          </a:xfrm>
          <a:prstGeom prst="roundRect">
            <a:avLst>
              <a:gd name="adj" fmla="val 19048"/>
            </a:avLst>
          </a:prstGeom>
          <a:solidFill>
            <a:srgbClr val="1C2836"/>
          </a:solidFill>
          <a:ln w="9525">
            <a:solidFill>
              <a:srgbClr val="2E3E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82612" y="5806440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— ISTAT Traffic Risk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e Resilienza della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dell'API ISTAT (dati dinamici sui sinistri) con i registri demografici SITUAS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84248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6" name="Image 0" descr="icon_ing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488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CSV via Header HTTP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forzata in formato CSV tramite header HTTP Accept, per ottimizzare i tempi di parsing e calcolo rispetto all'XML nativo.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984248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11" name="Image 1" descr="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1488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476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 locale condizionale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83680" y="27432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locale condizionale per azzerare il rischio di ban da rate limit dell'API e rendere la pipeline resiliente a esecuzioni ripetute.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681728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16" name="Image 2" descr="icon_me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84632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64515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Join su codice REF_AREA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8680" y="54406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Unione matematica dei due dataset tramite il codice numerico univoco ministeriale REF_AREA, per collegare sinistri e anagrafica comuni.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3891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681728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21" name="Image 3" descr="icon_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84632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64515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Automazione &amp; aggiornamento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83680" y="54406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automatico e ripetibile, pensato per i nuovi rilasci periodici del dataset ISTAT, con pulizia e normalizzazione a valle.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— ISTAT Traffic Risk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e Rimozione del Bias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0" cy="4892040"/>
          </a:xfrm>
          <a:prstGeom prst="roundRect">
            <a:avLst>
              <a:gd name="adj" fmla="val 1869"/>
            </a:avLst>
          </a:prstGeom>
          <a:solidFill>
            <a:srgbClr val="1C2836"/>
          </a:solidFill>
          <a:ln/>
        </p:spPr>
      </p:sp>
      <p:pic>
        <p:nvPicPr>
          <p:cNvPr id="4" name="Image 0" descr="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 del dato assoluto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8680" y="21488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numero assoluto di incidenti (OBS_VALUE) genera un bias sistematico a favore delle grandi metropoli, penalizzando l'analisi delle reali criticità infrastrutturali.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3246120"/>
            <a:ext cx="4389120" cy="0"/>
          </a:xfrm>
          <a:prstGeom prst="line">
            <a:avLst/>
          </a:prstGeom>
          <a:noFill/>
          <a:ln w="12700">
            <a:solidFill>
              <a:srgbClr val="2E3E4E"/>
            </a:solidFill>
            <a:prstDash val="solid"/>
          </a:ln>
        </p:spPr>
      </p:sp>
      <p:pic>
        <p:nvPicPr>
          <p:cNvPr id="8" name="Image 1" descr="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20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520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 di Business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4160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Individuare le reali criticità infrastrutturali anche nei centri minori, spesso invisibili se si guarda solo al totale sinistri.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" y="52578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“Normalizzare per rendere visibile ciò che il dato grezzo nasconde.”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943600" y="1234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nuove feature ingegnerizzate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3600" y="173736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2057400"/>
            <a:ext cx="640080" cy="640080"/>
          </a:xfrm>
          <a:prstGeom prst="ellipse">
            <a:avLst/>
          </a:prstGeom>
          <a:solidFill>
            <a:srgbClr val="FFF3DF"/>
          </a:solidFill>
          <a:ln/>
        </p:spPr>
      </p:sp>
      <p:pic>
        <p:nvPicPr>
          <p:cNvPr id="15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2219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1965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Tasso Pro Capite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63640" y="2450592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 normalizzati su base 1.000 abitanti, per confrontare comuni di dimensioni molto diverse su una base comune.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43600" y="393192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63640" y="4251960"/>
            <a:ext cx="640080" cy="640080"/>
          </a:xfrm>
          <a:prstGeom prst="ellipse">
            <a:avLst/>
          </a:prstGeom>
          <a:solidFill>
            <a:srgbClr val="DCF9F4"/>
          </a:solidFill>
          <a:ln/>
        </p:spPr>
      </p:sp>
      <p:pic>
        <p:nvPicPr>
          <p:cNvPr id="20" name="Image 3" descr="icon_loc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44165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4160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Densità Spaziale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263640" y="4645152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 calcolati per chilometro quadrato (Kmq), per far emergere le criticità concentrate su territori piccoli e densi.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— ISTAT Traffic Risk Analysis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Analytics: Machine Learning con K-Means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non supervisionato addestrato per individuare cluster fisici di rischio tra i comuni italiani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pic>
        <p:nvPicPr>
          <p:cNvPr id="5" name="Image 0" descr="unpacked/ppt/media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783080"/>
            <a:ext cx="566928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691640"/>
            <a:ext cx="457200" cy="457200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7" name="Image 1" descr="icon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013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25512" y="1664208"/>
            <a:ext cx="4087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Standardizzazione delle feature tramite StandardScaler, per equilibrare i pesi geometrici tra tasso pro capite e densità.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903720" y="2560320"/>
            <a:ext cx="457200" cy="457200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10" name="Image 2" descr="icon_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267004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25512" y="2532888"/>
            <a:ext cx="4087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K-Means addestrato su 3 cluster fisici di rischio (Basso, Medio, Alto).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903720" y="3429000"/>
            <a:ext cx="457200" cy="457200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13" name="Image 3" descr="icon_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353872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25512" y="3401568"/>
            <a:ext cx="4087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Mappatura logaritmica sull'asse Y per gestire la forte asimmetria dei centri urbani più popolosi.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903720" y="43434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PIRAMIDE DEL RISCHIO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903720" y="4709160"/>
            <a:ext cx="1447800" cy="1417320"/>
          </a:xfrm>
          <a:prstGeom prst="roundRect">
            <a:avLst>
              <a:gd name="adj" fmla="val 5161"/>
            </a:avLst>
          </a:prstGeom>
          <a:solidFill>
            <a:srgbClr val="1C2836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903720" y="4828032"/>
            <a:ext cx="144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5.905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995160" y="5440680"/>
            <a:ext cx="126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 a Basso Rischio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534400" y="4709160"/>
            <a:ext cx="1447800" cy="1417320"/>
          </a:xfrm>
          <a:prstGeom prst="roundRect">
            <a:avLst>
              <a:gd name="adj" fmla="val 5161"/>
            </a:avLst>
          </a:prstGeom>
          <a:solidFill>
            <a:srgbClr val="1C2836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534400" y="4828032"/>
            <a:ext cx="144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1.846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8625840" y="5440680"/>
            <a:ext cx="126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 a Medio Rischio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10165080" y="4709160"/>
            <a:ext cx="1447800" cy="1417320"/>
          </a:xfrm>
          <a:prstGeom prst="roundRect">
            <a:avLst>
              <a:gd name="adj" fmla="val 5161"/>
            </a:avLst>
          </a:prstGeom>
          <a:solidFill>
            <a:srgbClr val="1C2836"/>
          </a:solidFill>
          <a:ln w="15875">
            <a:solidFill>
              <a:srgbClr val="E74C3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0165080" y="4828032"/>
            <a:ext cx="144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10256520" y="5440680"/>
            <a:ext cx="126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 ad Alto Rischio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— ISTAT Traffic Risk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852160" cy="5852160"/>
          </a:xfrm>
          <a:prstGeom prst="ellipse">
            <a:avLst/>
          </a:prstGeom>
          <a:solidFill>
            <a:srgbClr val="1C2836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Predittivo e Visione Strategica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 lineare applicata sulla serie storica per isolare il trend nazionale degli incidenti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1C283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190.729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 totali stimati a livello nazionale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3566160" cy="0"/>
          </a:xfrm>
          <a:prstGeom prst="line">
            <a:avLst/>
          </a:prstGeom>
          <a:noFill/>
          <a:ln w="12700">
            <a:solidFill>
              <a:srgbClr val="2E3E4E"/>
            </a:solidFill>
            <a:prstDash val="solid"/>
          </a:ln>
        </p:spPr>
      </p:sp>
      <p:pic>
        <p:nvPicPr>
          <p:cNvPr id="10" name="Image 0" descr="icon_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348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441655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nazionale in crescita rispetto agli anni precedenti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20640" y="1828800"/>
            <a:ext cx="6492240" cy="1783080"/>
          </a:xfrm>
          <a:prstGeom prst="roundRect">
            <a:avLst>
              <a:gd name="adj" fmla="val 5128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2103120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14" name="Image 1" descr="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226771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63640" y="20299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Allocazione chirurgica del budget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5440680" y="2788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esclusivo sui 148 comuni ad Alto Rischio individuati dal clustering, per massimizzare l'impatto degli investimenti.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120640" y="3840480"/>
            <a:ext cx="6492240" cy="1783080"/>
          </a:xfrm>
          <a:prstGeom prst="roundRect">
            <a:avLst>
              <a:gd name="adj" fmla="val 5128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40680" y="4114800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19" name="Image 2" descr="icon_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427939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40416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Obiettivo di business centrato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5440680" y="480060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Massimizzazione del ROI aziendale attraverso una prevenzione mirata, invece di interventi diffusi e poco efficienti.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12064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dato grezzo alla decisione di investimento: una pipeline completa, dalla raccolta al ROI.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— ISTAT Traffic Risk Analysis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2026-07-30T16:55:23Z</dcterms:created>
  <dcterms:modified xsi:type="dcterms:W3CDTF">2026-07-30T16:55:23Z</dcterms:modified>
</cp:coreProperties>
</file>